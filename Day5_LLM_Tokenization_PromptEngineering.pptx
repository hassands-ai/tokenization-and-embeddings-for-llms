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51763D3-4990-4BCE-BD15-8261DCBE4F9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8DC84-036F-4F9B-B670-AD187C81F0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A1753D-6541-4AEC-8092-1A316E6FB7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98B722-7FC7-4443-88D2-29BB2BD6F8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EDFDE5-DF1C-42FC-8EBC-8B4660E7D2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C9C2D3-8BCA-4715-A2D0-FDF43745F7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BEDF3A-5B06-4B78-9D95-3E04E020AC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EC18A1-8D60-454E-B186-3BD45ED566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B46189-4565-46C2-92BD-DE0D0B12B2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FFD0E6-E1E9-4318-8790-B3F850428C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CBB291-F356-4F26-B0A0-B603B1C846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B07314-C71C-4A86-9506-A64FC29D43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7783BB-9CDC-4542-8665-62F9B405CA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615CB2-76D9-483E-8F9B-92E666176E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B35E2D-D252-49AF-9A80-D56604F438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595D94-3EA8-4BCD-A60A-F37CD5C374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AACBC8-020C-4BDE-9ADA-FC52E3D738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D46469-CFBB-4DD9-AAB4-E780FF3085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FCA456-6F52-4A06-B54F-A4AA5B3B9A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686800" y="-1828800"/>
            <a:ext cx="6400440" cy="6400440"/>
          </a:xfrm>
          <a:prstGeom prst="ellipse">
            <a:avLst/>
          </a:prstGeom>
          <a:solidFill>
            <a:srgbClr val="7C3AED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828800" y="4114800"/>
            <a:ext cx="5028840" cy="5028840"/>
          </a:xfrm>
          <a:prstGeom prst="ellipse">
            <a:avLst/>
          </a:pr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822960" y="82296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822960" y="18288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NCAI · GENERATIVE AI INTERNSHIP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22960" y="2286000"/>
            <a:ext cx="10058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LLM Foundations, Tokenization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&amp; Prompt Engineering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822960" y="4206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GPT vs BERT vs T5  ·  </a:t>
            </a:r>
            <a:r>
              <a:rPr lang="en-US" sz="15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Tokenization &amp; </a:t>
            </a:r>
            <a:r>
              <a:rPr lang="en-US" sz="15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Embeddings  ·  </a:t>
            </a:r>
            <a:r>
              <a:rPr lang="en-US" sz="15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Prompt Engineering </a:t>
            </a:r>
            <a:r>
              <a:rPr lang="en-US" sz="15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Techniques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822960" y="6035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Prepared by Hassan  |  Day 5 Submission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TODAY'S ROADMAP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What We're Covering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828800"/>
            <a:ext cx="3565800" cy="3931560"/>
          </a:xfrm>
          <a:prstGeom prst="roundRect">
            <a:avLst>
              <a:gd name="adj" fmla="val 3077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868680" y="214884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preencoded.png"/>
          <p:cNvPicPr/>
          <p:nvPr/>
        </p:nvPicPr>
        <p:blipFill>
          <a:blip r:embed="rId1"/>
          <a:stretch/>
        </p:blipFill>
        <p:spPr>
          <a:xfrm>
            <a:off x="1051560" y="23317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4"/>
          <p:cNvSpPr/>
          <p:nvPr/>
        </p:nvSpPr>
        <p:spPr>
          <a:xfrm>
            <a:off x="822960" y="32004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1. LLM Evolution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822960" y="3840480"/>
            <a:ext cx="30171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GPT vs BERT vs T5 — architectures, comparison table &amp; use cases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4434840" y="1828800"/>
            <a:ext cx="3565800" cy="3931560"/>
          </a:xfrm>
          <a:prstGeom prst="roundRect">
            <a:avLst>
              <a:gd name="adj" fmla="val 3077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4754880" y="214884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1" descr="preencoded.png"/>
          <p:cNvPicPr/>
          <p:nvPr/>
        </p:nvPicPr>
        <p:blipFill>
          <a:blip r:embed="rId2"/>
          <a:stretch/>
        </p:blipFill>
        <p:spPr>
          <a:xfrm>
            <a:off x="4937760" y="23317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8"/>
          <p:cNvSpPr/>
          <p:nvPr/>
        </p:nvSpPr>
        <p:spPr>
          <a:xfrm>
            <a:off x="4709160" y="32004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2. Tokenization &amp; Embeddings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4709160" y="3840480"/>
            <a:ext cx="30171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BPE, WordPiece, SentencePiece + how embeddings work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8321040" y="1828800"/>
            <a:ext cx="3565800" cy="3931560"/>
          </a:xfrm>
          <a:prstGeom prst="roundRect">
            <a:avLst>
              <a:gd name="adj" fmla="val 3077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8641080" y="214884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2" descr="preencoded.png"/>
          <p:cNvPicPr/>
          <p:nvPr/>
        </p:nvPicPr>
        <p:blipFill>
          <a:blip r:embed="rId3"/>
          <a:stretch/>
        </p:blipFill>
        <p:spPr>
          <a:xfrm>
            <a:off x="8823960" y="23317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2"/>
          <p:cNvSpPr/>
          <p:nvPr/>
        </p:nvSpPr>
        <p:spPr>
          <a:xfrm>
            <a:off x="8595360" y="32004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3. Prompt Engineering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8595360" y="3840480"/>
            <a:ext cx="30171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Zero/one/few-shot, role-based prompting &amp; task templates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9692640" y="-1371600"/>
            <a:ext cx="4571640" cy="4571640"/>
          </a:xfrm>
          <a:prstGeom prst="ellipse">
            <a:avLst/>
          </a:prstGeom>
          <a:solidFill>
            <a:srgbClr val="7C3AE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-1371600" y="4754880"/>
            <a:ext cx="3657240" cy="3657240"/>
          </a:xfrm>
          <a:prstGeom prst="ellipse">
            <a:avLst/>
          </a:prstGeom>
          <a:solidFill>
            <a:srgbClr val="7C3AED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822960" y="20116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TOPIC 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822960" y="246888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GPT, BERT &amp; T5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822960" y="38404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Comparison &amp; Evolution of Large Language Models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preencoded.png"/>
          <p:cNvPicPr/>
          <p:nvPr/>
        </p:nvPicPr>
        <p:blipFill>
          <a:blip r:embed="rId1"/>
          <a:stretch/>
        </p:blipFill>
        <p:spPr>
          <a:xfrm>
            <a:off x="10332720" y="5120640"/>
            <a:ext cx="1188360" cy="118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1 · CONCEPT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Evolution of Language Models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548640" y="12344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From slow, sequential reading to fully parallel understanding of text.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822960" y="3291840"/>
            <a:ext cx="10515600" cy="360"/>
          </a:xfrm>
          <a:prstGeom prst="line">
            <a:avLst/>
          </a:prstGeom>
          <a:ln w="381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676800" y="3145680"/>
            <a:ext cx="292320" cy="292320"/>
          </a:xfrm>
          <a:prstGeom prst="ellipse">
            <a:avLst/>
          </a:prstGeom>
          <a:solidFill>
            <a:srgbClr val="4C1D95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0" y="26060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Pre-2017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0" y="35661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RNN / LSTM / GRU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0" y="397764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Sequential, forgets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long-range context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3305520" y="3145680"/>
            <a:ext cx="292320" cy="292320"/>
          </a:xfrm>
          <a:prstGeom prst="ellipse">
            <a:avLst/>
          </a:prstGeom>
          <a:solidFill>
            <a:srgbClr val="4C1D95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2629080" y="26060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2017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2629080" y="35661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Transformer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2629080" y="397764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Self-attention;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fully parallel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5934600" y="3145680"/>
            <a:ext cx="292320" cy="292320"/>
          </a:xfrm>
          <a:prstGeom prst="ellipse">
            <a:avLst/>
          </a:prstGeom>
          <a:solidFill>
            <a:srgbClr val="4C1D95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5257800" y="26060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2018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5257800" y="35661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BERT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5257800" y="397764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Bidirectional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encoder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6"/>
          <p:cNvSpPr/>
          <p:nvPr/>
        </p:nvSpPr>
        <p:spPr>
          <a:xfrm>
            <a:off x="8563320" y="3145680"/>
            <a:ext cx="292320" cy="292320"/>
          </a:xfrm>
          <a:prstGeom prst="ellipse">
            <a:avLst/>
          </a:prstGeom>
          <a:solidFill>
            <a:srgbClr val="4C1D95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7886880" y="26060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2018-19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8"/>
          <p:cNvSpPr/>
          <p:nvPr/>
        </p:nvSpPr>
        <p:spPr>
          <a:xfrm>
            <a:off x="7886880" y="35661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GPT / GPT-2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9"/>
          <p:cNvSpPr/>
          <p:nvPr/>
        </p:nvSpPr>
        <p:spPr>
          <a:xfrm>
            <a:off x="7886880" y="397764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Decoder-only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generator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0"/>
          <p:cNvSpPr/>
          <p:nvPr/>
        </p:nvSpPr>
        <p:spPr>
          <a:xfrm>
            <a:off x="11192400" y="3145680"/>
            <a:ext cx="292320" cy="292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10515600" y="26060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2019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2"/>
          <p:cNvSpPr/>
          <p:nvPr/>
        </p:nvSpPr>
        <p:spPr>
          <a:xfrm>
            <a:off x="10515600" y="35661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T5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3"/>
          <p:cNvSpPr/>
          <p:nvPr/>
        </p:nvSpPr>
        <p:spPr>
          <a:xfrm>
            <a:off x="10515600" y="397764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Encoder-decoder,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text-to-text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4"/>
          <p:cNvSpPr/>
          <p:nvPr/>
        </p:nvSpPr>
        <p:spPr>
          <a:xfrm>
            <a:off x="548640" y="5394960"/>
            <a:ext cx="11063880" cy="1051200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777240" y="56235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5"/>
          <p:cNvSpPr/>
          <p:nvPr/>
        </p:nvSpPr>
        <p:spPr>
          <a:xfrm>
            <a:off x="1508760" y="553212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Core shift: </a:t>
            </a:r>
            <a:r>
              <a:rPr lang="en-US" sz="125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Self-attention lets every word look at every other word at once — instead of reading left-to-right one word at a time, the model captures full context instantly and trains in parallel on GPUs.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6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1 · ARCHITECTURES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Three Ways to Build a Transformer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54864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548640" y="1417320"/>
            <a:ext cx="3611520" cy="7768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777240" y="1581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4"/>
          <p:cNvSpPr/>
          <p:nvPr/>
        </p:nvSpPr>
        <p:spPr>
          <a:xfrm>
            <a:off x="1325880" y="1508760"/>
            <a:ext cx="269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ENCODER-ONLY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325880" y="17463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BERT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804600" y="2377440"/>
            <a:ext cx="3099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Reads the whole sentence at once, both directions ('bidirectional'). Predicts masked words using full context.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804600" y="4297680"/>
            <a:ext cx="3099600" cy="173700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960120" y="44164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EXAMPLE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960120" y="4709160"/>
            <a:ext cx="2788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"The [MASK] sat 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the mat." → cat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441648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4416480" y="1417320"/>
            <a:ext cx="3611520" cy="776880"/>
          </a:xfrm>
          <a:prstGeom prst="rect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1" descr="preencoded.png"/>
          <p:cNvPicPr/>
          <p:nvPr/>
        </p:nvPicPr>
        <p:blipFill>
          <a:blip r:embed="rId2"/>
          <a:stretch/>
        </p:blipFill>
        <p:spPr>
          <a:xfrm>
            <a:off x="4645080" y="1581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12"/>
          <p:cNvSpPr/>
          <p:nvPr/>
        </p:nvSpPr>
        <p:spPr>
          <a:xfrm>
            <a:off x="5193720" y="1508760"/>
            <a:ext cx="269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DECODER-ONLY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5193720" y="17463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GPT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4672440" y="2377440"/>
            <a:ext cx="3099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Reads left-to-right only ('causal'). Predicts the next word using only previous words — perfect for generation.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4672440" y="4297680"/>
            <a:ext cx="3099600" cy="173700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4827960" y="44164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EXAMPLE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4827960" y="4709160"/>
            <a:ext cx="2788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"The cat sat 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the" → mat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828432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9"/>
          <p:cNvSpPr/>
          <p:nvPr/>
        </p:nvSpPr>
        <p:spPr>
          <a:xfrm>
            <a:off x="8284320" y="1417320"/>
            <a:ext cx="3611520" cy="7768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2" descr="preencoded.png"/>
          <p:cNvPicPr/>
          <p:nvPr/>
        </p:nvPicPr>
        <p:blipFill>
          <a:blip r:embed="rId3"/>
          <a:stretch/>
        </p:blipFill>
        <p:spPr>
          <a:xfrm>
            <a:off x="8512920" y="1581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20"/>
          <p:cNvSpPr/>
          <p:nvPr/>
        </p:nvSpPr>
        <p:spPr>
          <a:xfrm>
            <a:off x="9061560" y="1508760"/>
            <a:ext cx="269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ENCODER-DECODER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9061560" y="174636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T5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8540640" y="2377440"/>
            <a:ext cx="3099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Encoder understands input, decoder generates output. Every task becomes text-to-text.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3"/>
          <p:cNvSpPr/>
          <p:nvPr/>
        </p:nvSpPr>
        <p:spPr>
          <a:xfrm>
            <a:off x="8540640" y="4297680"/>
            <a:ext cx="3099600" cy="173700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8695800" y="44164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EXAMPLE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5"/>
          <p:cNvSpPr/>
          <p:nvPr/>
        </p:nvSpPr>
        <p:spPr>
          <a:xfrm>
            <a:off x="8695800" y="4709160"/>
            <a:ext cx="2788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"summarize: &lt;article&gt;"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&lt;short summary&gt;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6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1 · DELIVERABLE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Comparison Table — GPT vs BERT vs T5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1" name="Table 0"/>
          <p:cNvGraphicFramePr/>
          <p:nvPr/>
        </p:nvGraphicFramePr>
        <p:xfrm>
          <a:off x="548640" y="1417320"/>
          <a:ext cx="11063880" cy="44802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  <a:gridCol w="3017520"/>
                <a:gridCol w="3108960"/>
              </a:tblGrid>
              <a:tr h="746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Feature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4C1D95"/>
                    </a:solidFill>
                  </a:tcPr>
                </a:tc>
              </a:tr>
              <a:tr h="74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Architecture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Decoder-only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Encoder-only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Encoder-Decoder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  <a:tr h="74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Direction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Left-to-right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Bidirectional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Both (enc + dec)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  <a:tr h="74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Pretraining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Next-token prediction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Masked Language Modeling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Span corruption (text-to-text)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  <a:tr h="74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Best At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Generation, chat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Classification, Q&amp;A (extractive)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Any task as text-to-text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  <a:tr h="74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Limitation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Weaker pure understanding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Can't generate long fluent text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Slightly costlier (2 stacks)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Shape 2"/>
          <p:cNvSpPr/>
          <p:nvPr/>
        </p:nvSpPr>
        <p:spPr>
          <a:xfrm>
            <a:off x="548640" y="6080760"/>
            <a:ext cx="1106388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731520" y="608076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Rule of thumb:  </a:t>
            </a: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Understand text → BERT   |   Generate text → GPT   |   Flexible multi-task → T5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1 · APPLICATION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When to </a:t>
            </a: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Use Which </a:t>
            </a: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Model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48640" y="1554480"/>
            <a:ext cx="11063880" cy="1234080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822960" y="1801440"/>
            <a:ext cx="731160" cy="7311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987480" y="196596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4"/>
          <p:cNvSpPr/>
          <p:nvPr/>
        </p:nvSpPr>
        <p:spPr>
          <a:xfrm>
            <a:off x="1828800" y="1737360"/>
            <a:ext cx="1645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GPT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3657600" y="1737360"/>
            <a:ext cx="7680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Chatbots, story &amp; content writing, code generation, few-shot completion tasks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548640" y="3017520"/>
            <a:ext cx="11063880" cy="1234080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822960" y="3264480"/>
            <a:ext cx="731160" cy="7311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987480" y="342900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8"/>
          <p:cNvSpPr/>
          <p:nvPr/>
        </p:nvSpPr>
        <p:spPr>
          <a:xfrm>
            <a:off x="1828800" y="3200400"/>
            <a:ext cx="1645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BERT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3657600" y="3200400"/>
            <a:ext cx="7680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Spam detection, sentiment analysis, named-entity recognition, sentence classification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548640" y="4480560"/>
            <a:ext cx="11063880" cy="1234080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822960" y="4727520"/>
            <a:ext cx="731160" cy="7311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2" descr="preencoded.png"/>
          <p:cNvPicPr/>
          <p:nvPr/>
        </p:nvPicPr>
        <p:blipFill>
          <a:blip r:embed="rId3"/>
          <a:stretch/>
        </p:blipFill>
        <p:spPr>
          <a:xfrm>
            <a:off x="987480" y="489204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12"/>
          <p:cNvSpPr/>
          <p:nvPr/>
        </p:nvSpPr>
        <p:spPr>
          <a:xfrm>
            <a:off x="1828800" y="4663440"/>
            <a:ext cx="1645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T5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3657600" y="4663440"/>
            <a:ext cx="7680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Translation, summarization, multi-task pipelines, Q&amp;A framed as text generation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9692640" y="-1371600"/>
            <a:ext cx="4571640" cy="4571640"/>
          </a:xfrm>
          <a:prstGeom prst="ellipse">
            <a:avLst/>
          </a:prstGeom>
          <a:solidFill>
            <a:srgbClr val="7C3AE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-1371600" y="4754880"/>
            <a:ext cx="3657240" cy="3657240"/>
          </a:xfrm>
          <a:prstGeom prst="ellipse">
            <a:avLst/>
          </a:prstGeom>
          <a:solidFill>
            <a:srgbClr val="7C3AED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822960" y="20116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TOPIC 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822960" y="246888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Tokenization &amp; Embeddings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822960" y="38404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How raw text becomes numbers a model can understand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0" descr="preencoded.png"/>
          <p:cNvPicPr/>
          <p:nvPr/>
        </p:nvPicPr>
        <p:blipFill>
          <a:blip r:embed="rId1"/>
          <a:stretch/>
        </p:blipFill>
        <p:spPr>
          <a:xfrm>
            <a:off x="10332720" y="5120640"/>
            <a:ext cx="1188360" cy="118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2 · CONCEPT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Why Tokenization Is Required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548640" y="12344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Models only understand numbers. Text must be broken into pieces (tokens) and mapped to IDs.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914400" y="2194560"/>
            <a:ext cx="3108600" cy="1737000"/>
          </a:xfrm>
          <a:prstGeom prst="roundRect">
            <a:avLst>
              <a:gd name="adj" fmla="val 5263"/>
            </a:avLst>
          </a:prstGeom>
          <a:solidFill>
            <a:srgbClr val="EDE9FE"/>
          </a:solidFill>
          <a:ln w="1270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 descr="preencoded.png"/>
          <p:cNvPicPr/>
          <p:nvPr/>
        </p:nvPicPr>
        <p:blipFill>
          <a:blip r:embed="rId1"/>
          <a:stretch/>
        </p:blipFill>
        <p:spPr>
          <a:xfrm>
            <a:off x="2212920" y="242316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4"/>
          <p:cNvSpPr/>
          <p:nvPr/>
        </p:nvSpPr>
        <p:spPr>
          <a:xfrm>
            <a:off x="914400" y="30175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Raw 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1005840" y="33832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"unhappiness"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1" descr="preencoded.png"/>
          <p:cNvPicPr/>
          <p:nvPr/>
        </p:nvPicPr>
        <p:blipFill>
          <a:blip r:embed="rId2"/>
          <a:stretch/>
        </p:blipFill>
        <p:spPr>
          <a:xfrm>
            <a:off x="4279320" y="2880360"/>
            <a:ext cx="45684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Shape 6"/>
          <p:cNvSpPr/>
          <p:nvPr/>
        </p:nvSpPr>
        <p:spPr>
          <a:xfrm>
            <a:off x="4983480" y="2194560"/>
            <a:ext cx="3108600" cy="1737000"/>
          </a:xfrm>
          <a:prstGeom prst="roundRect">
            <a:avLst>
              <a:gd name="adj" fmla="val 5263"/>
            </a:avLst>
          </a:prstGeom>
          <a:solidFill>
            <a:srgbClr val="EDE9FE"/>
          </a:solidFill>
          <a:ln w="1270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3"/>
          <a:stretch/>
        </p:blipFill>
        <p:spPr>
          <a:xfrm>
            <a:off x="6282000" y="242316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7"/>
          <p:cNvSpPr/>
          <p:nvPr/>
        </p:nvSpPr>
        <p:spPr>
          <a:xfrm>
            <a:off x="4983480" y="30175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Tokens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5074920" y="33832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un | happi | ness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3" descr="preencoded.png"/>
          <p:cNvPicPr/>
          <p:nvPr/>
        </p:nvPicPr>
        <p:blipFill>
          <a:blip r:embed="rId4"/>
          <a:stretch/>
        </p:blipFill>
        <p:spPr>
          <a:xfrm>
            <a:off x="8348400" y="2880360"/>
            <a:ext cx="45684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Shape 9"/>
          <p:cNvSpPr/>
          <p:nvPr/>
        </p:nvSpPr>
        <p:spPr>
          <a:xfrm>
            <a:off x="9052560" y="2194560"/>
            <a:ext cx="3108600" cy="1737000"/>
          </a:xfrm>
          <a:prstGeom prst="roundRect">
            <a:avLst>
              <a:gd name="adj" fmla="val 5263"/>
            </a:avLst>
          </a:prstGeom>
          <a:solidFill>
            <a:srgbClr val="EDE9FE"/>
          </a:solidFill>
          <a:ln w="1270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4" descr="preencoded.png"/>
          <p:cNvPicPr/>
          <p:nvPr/>
        </p:nvPicPr>
        <p:blipFill>
          <a:blip r:embed="rId5"/>
          <a:stretch/>
        </p:blipFill>
        <p:spPr>
          <a:xfrm>
            <a:off x="10351080" y="242316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0"/>
          <p:cNvSpPr/>
          <p:nvPr/>
        </p:nvSpPr>
        <p:spPr>
          <a:xfrm>
            <a:off x="9052560" y="30175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Token IDs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9144000" y="33832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1023, 4521, 892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548640" y="4343400"/>
            <a:ext cx="11063880" cy="1691280"/>
          </a:xfrm>
          <a:prstGeom prst="roundRect">
            <a:avLst>
              <a:gd name="adj" fmla="val 5405"/>
            </a:avLst>
          </a:prstGeom>
          <a:solidFill>
            <a:srgbClr val="1E1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5" descr="preencoded.png"/>
          <p:cNvPicPr/>
          <p:nvPr/>
        </p:nvPicPr>
        <p:blipFill>
          <a:blip r:embed="rId6"/>
          <a:stretch/>
        </p:blipFill>
        <p:spPr>
          <a:xfrm>
            <a:off x="822960" y="45720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13"/>
          <p:cNvSpPr/>
          <p:nvPr/>
        </p:nvSpPr>
        <p:spPr>
          <a:xfrm>
            <a:off x="1463040" y="4480560"/>
            <a:ext cx="9966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Kitchen analogy: 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chef can't work with "chicken curry" — only numbered ingredients. Tokenization is the process of chopping your sentence into those numbered pieces so the model can "cook" with them.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Subword tokenization is the middle ground between whole-words (vocabulary explodes) and single characters (sequences get too long) — common words stay whole, rare words get broken into meaningful pieces.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2 · SCHEMES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BPE · WordPiece · SentencePiece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4864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804600" y="1673280"/>
            <a:ext cx="639720" cy="639720"/>
          </a:xfrm>
          <a:prstGeom prst="ellipse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941760" y="18104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4"/>
          <p:cNvSpPr/>
          <p:nvPr/>
        </p:nvSpPr>
        <p:spPr>
          <a:xfrm>
            <a:off x="1600200" y="16732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BPE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1600200" y="200268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Used by GPT-2, RoBERTa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804600" y="2514600"/>
            <a:ext cx="3099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Glues the most frequent adjacent pair of symbols together, repeatedly, until vocab size is reached.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804600" y="4206240"/>
            <a:ext cx="3099600" cy="182844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960120" y="434340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EXAMPLE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960120" y="4663440"/>
            <a:ext cx="2788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low, lower, newest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low, low+er, new+est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441648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4672440" y="1673280"/>
            <a:ext cx="639720" cy="639720"/>
          </a:xfrm>
          <a:prstGeom prst="ellipse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1" descr="preencoded.png"/>
          <p:cNvPicPr/>
          <p:nvPr/>
        </p:nvPicPr>
        <p:blipFill>
          <a:blip r:embed="rId2"/>
          <a:stretch/>
        </p:blipFill>
        <p:spPr>
          <a:xfrm>
            <a:off x="4809600" y="18104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12"/>
          <p:cNvSpPr/>
          <p:nvPr/>
        </p:nvSpPr>
        <p:spPr>
          <a:xfrm>
            <a:off x="5468040" y="16732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WordPiece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3"/>
          <p:cNvSpPr/>
          <p:nvPr/>
        </p:nvSpPr>
        <p:spPr>
          <a:xfrm>
            <a:off x="5468040" y="200268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Used by BERT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4672440" y="2514600"/>
            <a:ext cx="3099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Similar to BPE, but merges pairs that maximize prediction likelihood. Continuations marked with ##.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5"/>
          <p:cNvSpPr/>
          <p:nvPr/>
        </p:nvSpPr>
        <p:spPr>
          <a:xfrm>
            <a:off x="4672440" y="4206240"/>
            <a:ext cx="3099600" cy="182844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4827960" y="434340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EXAMPLE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7"/>
          <p:cNvSpPr/>
          <p:nvPr/>
        </p:nvSpPr>
        <p:spPr>
          <a:xfrm>
            <a:off x="4827960" y="4663440"/>
            <a:ext cx="2788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"playing"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play + ##ing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8"/>
          <p:cNvSpPr/>
          <p:nvPr/>
        </p:nvSpPr>
        <p:spPr>
          <a:xfrm>
            <a:off x="828432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9"/>
          <p:cNvSpPr/>
          <p:nvPr/>
        </p:nvSpPr>
        <p:spPr>
          <a:xfrm>
            <a:off x="8540640" y="1673280"/>
            <a:ext cx="639720" cy="639720"/>
          </a:xfrm>
          <a:prstGeom prst="ellipse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2" descr="preencoded.png"/>
          <p:cNvPicPr/>
          <p:nvPr/>
        </p:nvPicPr>
        <p:blipFill>
          <a:blip r:embed="rId3"/>
          <a:stretch/>
        </p:blipFill>
        <p:spPr>
          <a:xfrm>
            <a:off x="8677800" y="18104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20"/>
          <p:cNvSpPr/>
          <p:nvPr/>
        </p:nvSpPr>
        <p:spPr>
          <a:xfrm>
            <a:off x="9335880" y="16732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SentencePiece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9335880" y="200268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Used by T5, XLNet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8540640" y="2514600"/>
            <a:ext cx="3099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Treats spaces as symbols (▁). Language-agnostic — works even without whitespace-separated words.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8540640" y="4206240"/>
            <a:ext cx="3099600" cy="182844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8695800" y="434340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EXAMPLE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5"/>
          <p:cNvSpPr/>
          <p:nvPr/>
        </p:nvSpPr>
        <p:spPr>
          <a:xfrm>
            <a:off x="8695800" y="4663440"/>
            <a:ext cx="2788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"Hello world"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▁Hello + ▁world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6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2 · USAGE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Tokenization with Hugging Face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"/>
          <p:cNvSpPr/>
          <p:nvPr/>
        </p:nvSpPr>
        <p:spPr>
          <a:xfrm>
            <a:off x="594720" y="2012040"/>
            <a:ext cx="11063880" cy="4160160"/>
          </a:xfrm>
          <a:prstGeom prst="roundRect">
            <a:avLst>
              <a:gd name="adj" fmla="val 2198"/>
            </a:avLst>
          </a:prstGeom>
          <a:solidFill>
            <a:srgbClr val="1E1B2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822960" y="1600200"/>
            <a:ext cx="145800" cy="145800"/>
          </a:xfrm>
          <a:prstGeom prst="ellipse">
            <a:avLst/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1051560" y="1600200"/>
            <a:ext cx="145800" cy="14580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>
            <a:off x="1280160" y="1600200"/>
            <a:ext cx="145800" cy="14580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6"/>
          <p:cNvSpPr/>
          <p:nvPr/>
        </p:nvSpPr>
        <p:spPr>
          <a:xfrm>
            <a:off x="685800" y="2057400"/>
            <a:ext cx="1042380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from transformers import AutoTokenizer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BERT (WordPiece)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bert_tok = AutoTokenizer.from_pretrained("bert-base-uncased")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print(bert_tok.tokenize("unaffordable housing"))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['una', '##ffo', '##rda', '##ble', 'housing']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GPT-2 (BPE)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gpt_tok = AutoTokenizer.from_pretrained("gpt2")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print(gpt_tok.tokenize("unaffordable housing"))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['un', 'aff', 'ord', 'able', 'Ġhousing']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T5 (SentencePiece)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t5_tok = AutoTokenizer.from_pretrained("t5-small")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print(t5_tok.tokenize("unaffordable housing"))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5E7EB"/>
                </a:solidFill>
                <a:effectLst/>
                <a:uFillTx/>
                <a:latin typeface="Courier New"/>
                <a:ea typeface="Courier New"/>
              </a:rPr>
              <a:t># ['▁un', 'aff', 'or', 'd', 'able', '▁housing']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2 · CONCEPT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Embeddings &amp; Positional Embeddings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548640" y="1371600"/>
            <a:ext cx="5394600" cy="4343040"/>
          </a:xfrm>
          <a:prstGeom prst="roundRect">
            <a:avLst>
              <a:gd name="adj" fmla="val 2105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0" descr="preencoded.png"/>
          <p:cNvPicPr/>
          <p:nvPr/>
        </p:nvPicPr>
        <p:blipFill>
          <a:blip r:embed="rId1"/>
          <a:stretch/>
        </p:blipFill>
        <p:spPr>
          <a:xfrm>
            <a:off x="822960" y="16002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3"/>
          <p:cNvSpPr/>
          <p:nvPr/>
        </p:nvSpPr>
        <p:spPr>
          <a:xfrm>
            <a:off x="1417320" y="162756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Token Embeddings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822960" y="2148840"/>
            <a:ext cx="4845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Each token ID is mapped to a dense vector (e.g. 768 numbers for BERT-base). Similar meanings sit close together on a giant "meaning map".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822960" y="3200400"/>
            <a:ext cx="484596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1005840" y="329184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200" b="1" u="none" strike="noStrike">
                <a:solidFill>
                  <a:srgbClr val="4C1D95"/>
                </a:solidFill>
                <a:effectLst/>
                <a:uFillTx/>
                <a:latin typeface="Courier New"/>
                <a:ea typeface="Courier New"/>
              </a:rPr>
              <a:t>"king" &amp; "queen" </a:t>
            </a: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close together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C1D95"/>
                </a:solidFill>
                <a:effectLst/>
                <a:uFillTx/>
                <a:latin typeface="Courier New"/>
                <a:ea typeface="Courier New"/>
              </a:rPr>
              <a:t>"king" &amp; "banana" </a:t>
            </a: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far apart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822960" y="4343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Code: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822960" y="4617720"/>
            <a:ext cx="48459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outputs.last_hidden_state.shape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# [1, 5, 768] → 5 tokens,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# 768 numbers each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6217920" y="1371600"/>
            <a:ext cx="5394600" cy="4343040"/>
          </a:xfrm>
          <a:prstGeom prst="roundRect">
            <a:avLst>
              <a:gd name="adj" fmla="val 2105"/>
            </a:avLst>
          </a:prstGeom>
          <a:solidFill>
            <a:srgbClr val="1E1B4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1" descr="preencoded.png"/>
          <p:cNvPicPr/>
          <p:nvPr/>
        </p:nvPicPr>
        <p:blipFill>
          <a:blip r:embed="rId2"/>
          <a:stretch/>
        </p:blipFill>
        <p:spPr>
          <a:xfrm>
            <a:off x="6492240" y="16002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10"/>
          <p:cNvSpPr/>
          <p:nvPr/>
        </p:nvSpPr>
        <p:spPr>
          <a:xfrm>
            <a:off x="7086600" y="162756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Positional Embeddings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6492240" y="214884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5E7EB"/>
                </a:solidFill>
                <a:effectLst/>
                <a:uFillTx/>
                <a:latin typeface="Calibri"/>
                <a:ea typeface="Calibri"/>
              </a:rPr>
              <a:t>Self-attention has no built-in sense of order. Positional embeddings give each token a "seat number" so word order isn't lost.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6492240" y="3108960"/>
            <a:ext cx="4845960" cy="1096920"/>
          </a:xfrm>
          <a:prstGeom prst="roundRect">
            <a:avLst>
              <a:gd name="adj" fmla="val 6667"/>
            </a:avLst>
          </a:prstGeom>
          <a:solidFill>
            <a:srgbClr val="312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6675120" y="3200400"/>
            <a:ext cx="4480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9E0B"/>
                </a:solidFill>
                <a:effectLst/>
                <a:uFillTx/>
                <a:latin typeface="Courier New"/>
                <a:ea typeface="Courier New"/>
              </a:rPr>
              <a:t>"The dog bit the man"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9E0B"/>
                </a:solidFill>
                <a:effectLst/>
                <a:uFillTx/>
                <a:latin typeface="Courier New"/>
                <a:ea typeface="Courier New"/>
              </a:rPr>
              <a:t>"The man bit the dog"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9E0B"/>
                </a:solidFill>
                <a:effectLst/>
                <a:uFillTx/>
                <a:latin typeface="Courier New"/>
                <a:ea typeface="Courier New"/>
              </a:rPr>
              <a:t>→ same words, different meaning!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6492240" y="4343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By model: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6492240" y="461772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1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BERT/GPT: </a:t>
            </a:r>
            <a:r>
              <a:rPr lang="en-US" sz="1150" b="0" u="none" strike="noStrike">
                <a:solidFill>
                  <a:srgbClr val="E5E7EB"/>
                </a:solidFill>
                <a:effectLst/>
                <a:uFillTx/>
                <a:latin typeface="Calibri"/>
                <a:ea typeface="Calibri"/>
              </a:rPr>
              <a:t>learned absolute positions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T5: </a:t>
            </a:r>
            <a:r>
              <a:rPr lang="en-US" sz="1150" b="0" u="none" strike="noStrike">
                <a:solidFill>
                  <a:srgbClr val="E5E7EB"/>
                </a:solidFill>
                <a:effectLst/>
                <a:uFillTx/>
                <a:latin typeface="Calibri"/>
                <a:ea typeface="Calibri"/>
              </a:rPr>
              <a:t>relative positions (distance between tokens)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548640" y="5897880"/>
            <a:ext cx="11063880" cy="59400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731520" y="589788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Final input = </a:t>
            </a:r>
            <a:r>
              <a:rPr lang="en-US" sz="12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Token Embedding  +  Positional Embedding  (+ Segment Embedding in BERT)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9692640" y="-1371600"/>
            <a:ext cx="4571640" cy="4571640"/>
          </a:xfrm>
          <a:prstGeom prst="ellipse">
            <a:avLst/>
          </a:prstGeom>
          <a:solidFill>
            <a:srgbClr val="7C3AE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-1371600" y="4754880"/>
            <a:ext cx="3657240" cy="3657240"/>
          </a:xfrm>
          <a:prstGeom prst="ellipse">
            <a:avLst/>
          </a:prstGeom>
          <a:solidFill>
            <a:srgbClr val="7C3AED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822960" y="20116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TOPIC 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822960" y="246888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Prompt Engineering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822960" y="38404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Techniques to guide LLM output through better instructions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0" descr="preencoded.png"/>
          <p:cNvPicPr/>
          <p:nvPr/>
        </p:nvPicPr>
        <p:blipFill>
          <a:blip r:embed="rId1"/>
          <a:stretch/>
        </p:blipFill>
        <p:spPr>
          <a:xfrm>
            <a:off x="10332720" y="5120640"/>
            <a:ext cx="1188360" cy="118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3 · TECHNIQUES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Zero-Shot, One-Shot &amp; Few-Shot Prompting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54864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548640" y="1417320"/>
            <a:ext cx="3611520" cy="685440"/>
          </a:xfrm>
          <a:prstGeom prst="rect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0" descr="preencoded.png"/>
          <p:cNvPicPr/>
          <p:nvPr/>
        </p:nvPicPr>
        <p:blipFill>
          <a:blip r:embed="rId1"/>
          <a:stretch/>
        </p:blipFill>
        <p:spPr>
          <a:xfrm>
            <a:off x="777240" y="15361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4"/>
          <p:cNvSpPr/>
          <p:nvPr/>
        </p:nvSpPr>
        <p:spPr>
          <a:xfrm>
            <a:off x="1325880" y="156348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ZERO-SHOT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804600" y="228600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No examples — just the instruction.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804600" y="3063240"/>
            <a:ext cx="3099600" cy="3062880"/>
          </a:xfrm>
          <a:prstGeom prst="roundRect">
            <a:avLst>
              <a:gd name="adj" fmla="val 2388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960120" y="320040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PROMPT &amp; 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960120" y="3520440"/>
            <a:ext cx="27885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Classify sentiment: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"The food was cold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and bland."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Negative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9"/>
          <p:cNvSpPr/>
          <p:nvPr/>
        </p:nvSpPr>
        <p:spPr>
          <a:xfrm>
            <a:off x="441648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0"/>
          <p:cNvSpPr/>
          <p:nvPr/>
        </p:nvSpPr>
        <p:spPr>
          <a:xfrm>
            <a:off x="4416480" y="1417320"/>
            <a:ext cx="3611520" cy="6854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1" descr="preencoded.png"/>
          <p:cNvPicPr/>
          <p:nvPr/>
        </p:nvPicPr>
        <p:blipFill>
          <a:blip r:embed="rId2"/>
          <a:stretch/>
        </p:blipFill>
        <p:spPr>
          <a:xfrm>
            <a:off x="4645080" y="15361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11"/>
          <p:cNvSpPr/>
          <p:nvPr/>
        </p:nvSpPr>
        <p:spPr>
          <a:xfrm>
            <a:off x="5193720" y="156348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ONE-SHOT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4672440" y="228600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One example given before the task.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3"/>
          <p:cNvSpPr/>
          <p:nvPr/>
        </p:nvSpPr>
        <p:spPr>
          <a:xfrm>
            <a:off x="4672440" y="3063240"/>
            <a:ext cx="3099600" cy="3062880"/>
          </a:xfrm>
          <a:prstGeom prst="roundRect">
            <a:avLst>
              <a:gd name="adj" fmla="val 2388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4"/>
          <p:cNvSpPr/>
          <p:nvPr/>
        </p:nvSpPr>
        <p:spPr>
          <a:xfrm>
            <a:off x="4827960" y="320040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PROMPT &amp; 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5"/>
          <p:cNvSpPr/>
          <p:nvPr/>
        </p:nvSpPr>
        <p:spPr>
          <a:xfrm>
            <a:off x="4827960" y="3520440"/>
            <a:ext cx="27885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"Amazing service!" →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Positive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"Food was cold." →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Negative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6"/>
          <p:cNvSpPr/>
          <p:nvPr/>
        </p:nvSpPr>
        <p:spPr>
          <a:xfrm>
            <a:off x="828432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7"/>
          <p:cNvSpPr/>
          <p:nvPr/>
        </p:nvSpPr>
        <p:spPr>
          <a:xfrm>
            <a:off x="8284320" y="1417320"/>
            <a:ext cx="3611520" cy="6854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Image 2" descr="preencoded.png"/>
          <p:cNvPicPr/>
          <p:nvPr/>
        </p:nvPicPr>
        <p:blipFill>
          <a:blip r:embed="rId3"/>
          <a:stretch/>
        </p:blipFill>
        <p:spPr>
          <a:xfrm>
            <a:off x="8512920" y="15361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 18"/>
          <p:cNvSpPr/>
          <p:nvPr/>
        </p:nvSpPr>
        <p:spPr>
          <a:xfrm>
            <a:off x="9061560" y="156348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FEW-SHOT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9"/>
          <p:cNvSpPr/>
          <p:nvPr/>
        </p:nvSpPr>
        <p:spPr>
          <a:xfrm>
            <a:off x="8540640" y="2286000"/>
            <a:ext cx="3099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2+ examples establish a pattern.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0"/>
          <p:cNvSpPr/>
          <p:nvPr/>
        </p:nvSpPr>
        <p:spPr>
          <a:xfrm>
            <a:off x="8540640" y="3063240"/>
            <a:ext cx="3099600" cy="3062880"/>
          </a:xfrm>
          <a:prstGeom prst="roundRect">
            <a:avLst>
              <a:gd name="adj" fmla="val 2388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1"/>
          <p:cNvSpPr/>
          <p:nvPr/>
        </p:nvSpPr>
        <p:spPr>
          <a:xfrm>
            <a:off x="8695800" y="320040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PROMPT &amp; 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2"/>
          <p:cNvSpPr/>
          <p:nvPr/>
        </p:nvSpPr>
        <p:spPr>
          <a:xfrm>
            <a:off x="8695800" y="3520440"/>
            <a:ext cx="27885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"Amazing!" → Positive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"Terrible wait" → Neg.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"It was okay" → Neutral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→ pattern learned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3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3 · TECHNIQUES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Role-Based &amp; Instruction Prompting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"/>
          <p:cNvSpPr/>
          <p:nvPr/>
        </p:nvSpPr>
        <p:spPr>
          <a:xfrm>
            <a:off x="548640" y="1417320"/>
            <a:ext cx="5440320" cy="2148480"/>
          </a:xfrm>
          <a:prstGeom prst="roundRect">
            <a:avLst>
              <a:gd name="adj" fmla="val 4255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0" descr="preencoded.png"/>
          <p:cNvPicPr/>
          <p:nvPr/>
        </p:nvPicPr>
        <p:blipFill>
          <a:blip r:embed="rId1"/>
          <a:stretch/>
        </p:blipFill>
        <p:spPr>
          <a:xfrm>
            <a:off x="777240" y="1627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3"/>
          <p:cNvSpPr/>
          <p:nvPr/>
        </p:nvSpPr>
        <p:spPr>
          <a:xfrm>
            <a:off x="1371600" y="1645920"/>
            <a:ext cx="4480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Role-Based Prompting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777240" y="21488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Assign the model a persona to shape tone and expertise.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"/>
          <p:cNvSpPr/>
          <p:nvPr/>
        </p:nvSpPr>
        <p:spPr>
          <a:xfrm>
            <a:off x="777240" y="2651760"/>
            <a:ext cx="4937400" cy="822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914400" y="2724840"/>
            <a:ext cx="466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"You are a senior data scientist.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Explain overfitting to a beginner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in 3 sentences."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6172200" y="1417320"/>
            <a:ext cx="5440320" cy="2148480"/>
          </a:xfrm>
          <a:prstGeom prst="roundRect">
            <a:avLst>
              <a:gd name="adj" fmla="val 4255"/>
            </a:avLst>
          </a:prstGeom>
          <a:solidFill>
            <a:srgbClr val="EDE9FE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1" descr="preencoded.png"/>
          <p:cNvPicPr/>
          <p:nvPr/>
        </p:nvPicPr>
        <p:blipFill>
          <a:blip r:embed="rId2"/>
          <a:stretch/>
        </p:blipFill>
        <p:spPr>
          <a:xfrm>
            <a:off x="6400800" y="1627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8"/>
          <p:cNvSpPr/>
          <p:nvPr/>
        </p:nvSpPr>
        <p:spPr>
          <a:xfrm>
            <a:off x="6995160" y="1645920"/>
            <a:ext cx="4480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Instruction Prompting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9"/>
          <p:cNvSpPr/>
          <p:nvPr/>
        </p:nvSpPr>
        <p:spPr>
          <a:xfrm>
            <a:off x="6400800" y="21488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Give a clear, direct command with explicit constraints.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0"/>
          <p:cNvSpPr/>
          <p:nvPr/>
        </p:nvSpPr>
        <p:spPr>
          <a:xfrm>
            <a:off x="6400800" y="2651760"/>
            <a:ext cx="4937400" cy="822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1"/>
          <p:cNvSpPr/>
          <p:nvPr/>
        </p:nvSpPr>
        <p:spPr>
          <a:xfrm>
            <a:off x="6537960" y="2724840"/>
            <a:ext cx="466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"Summarize the article in exactly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3 bullet points, each under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15 words."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2"/>
          <p:cNvSpPr/>
          <p:nvPr/>
        </p:nvSpPr>
        <p:spPr>
          <a:xfrm>
            <a:off x="548640" y="3794760"/>
            <a:ext cx="11063880" cy="1965600"/>
          </a:xfrm>
          <a:prstGeom prst="roundRect">
            <a:avLst>
              <a:gd name="adj" fmla="val 4651"/>
            </a:avLst>
          </a:prstGeom>
          <a:solidFill>
            <a:srgbClr val="1E1B4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2" descr="preencoded.png"/>
          <p:cNvPicPr/>
          <p:nvPr/>
        </p:nvPicPr>
        <p:blipFill>
          <a:blip r:embed="rId3"/>
          <a:stretch/>
        </p:blipFill>
        <p:spPr>
          <a:xfrm>
            <a:off x="822960" y="40233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13"/>
          <p:cNvSpPr/>
          <p:nvPr/>
        </p:nvSpPr>
        <p:spPr>
          <a:xfrm>
            <a:off x="1417320" y="40417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Most Effective in Practice: Combine Both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822960" y="4572000"/>
            <a:ext cx="10515240" cy="1051200"/>
          </a:xfrm>
          <a:prstGeom prst="roundRect">
            <a:avLst>
              <a:gd name="adj" fmla="val 6957"/>
            </a:avLst>
          </a:prstGeom>
          <a:solidFill>
            <a:srgbClr val="312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1051560" y="470916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59E0B"/>
                </a:solidFill>
                <a:effectLst/>
                <a:uFillTx/>
                <a:latin typeface="Courier New"/>
                <a:ea typeface="Courier New"/>
              </a:rPr>
              <a:t>"You are an expert technical writer. Summarize the following research abstract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59E0B"/>
                </a:solidFill>
                <a:effectLst/>
                <a:uFillTx/>
                <a:latin typeface="Courier New"/>
                <a:ea typeface="Courier New"/>
              </a:rPr>
              <a:t>in 2 sentences, avoiding jargon, for a non-technical audience."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3 · APPLICATION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Prompts for Summarization, Classification &amp; Q&amp;A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"/>
          <p:cNvSpPr/>
          <p:nvPr/>
        </p:nvSpPr>
        <p:spPr>
          <a:xfrm>
            <a:off x="54864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"/>
          <p:cNvSpPr/>
          <p:nvPr/>
        </p:nvSpPr>
        <p:spPr>
          <a:xfrm>
            <a:off x="804600" y="1691640"/>
            <a:ext cx="658080" cy="658080"/>
          </a:xfrm>
          <a:prstGeom prst="ellipse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0" descr="preencoded.png"/>
          <p:cNvPicPr/>
          <p:nvPr/>
        </p:nvPicPr>
        <p:blipFill>
          <a:blip r:embed="rId1"/>
          <a:stretch/>
        </p:blipFill>
        <p:spPr>
          <a:xfrm>
            <a:off x="951120" y="1837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4"/>
          <p:cNvSpPr/>
          <p:nvPr/>
        </p:nvSpPr>
        <p:spPr>
          <a:xfrm>
            <a:off x="1600200" y="17373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Summarization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804600" y="2606040"/>
            <a:ext cx="3099600" cy="3428640"/>
          </a:xfrm>
          <a:prstGeom prst="roundRect">
            <a:avLst>
              <a:gd name="adj" fmla="val 2360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987480" y="2788920"/>
            <a:ext cx="27338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"Summarize the following text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in 3 sentences, focusing only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on key findings: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&lt;text&gt;"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7"/>
          <p:cNvSpPr/>
          <p:nvPr/>
        </p:nvSpPr>
        <p:spPr>
          <a:xfrm>
            <a:off x="441648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4672440" y="1691640"/>
            <a:ext cx="658080" cy="658080"/>
          </a:xfrm>
          <a:prstGeom prst="ellipse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1" descr="preencoded.png"/>
          <p:cNvPicPr/>
          <p:nvPr/>
        </p:nvPicPr>
        <p:blipFill>
          <a:blip r:embed="rId2"/>
          <a:stretch/>
        </p:blipFill>
        <p:spPr>
          <a:xfrm>
            <a:off x="4818960" y="1837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9"/>
          <p:cNvSpPr/>
          <p:nvPr/>
        </p:nvSpPr>
        <p:spPr>
          <a:xfrm>
            <a:off x="5468040" y="17373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Classification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4672440" y="2606040"/>
            <a:ext cx="3099600" cy="3428640"/>
          </a:xfrm>
          <a:prstGeom prst="roundRect">
            <a:avLst>
              <a:gd name="adj" fmla="val 2360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4855320" y="2788920"/>
            <a:ext cx="27338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"Classify this email as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'Spam' or 'Not Spam'.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Respond with only one word.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Email: &lt;email text&gt;"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8284320" y="1417320"/>
            <a:ext cx="3611520" cy="4891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5DEFA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8540640" y="1691640"/>
            <a:ext cx="658080" cy="658080"/>
          </a:xfrm>
          <a:prstGeom prst="ellipse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2" descr="preencoded.png"/>
          <p:cNvPicPr/>
          <p:nvPr/>
        </p:nvPicPr>
        <p:blipFill>
          <a:blip r:embed="rId3"/>
          <a:stretch/>
        </p:blipFill>
        <p:spPr>
          <a:xfrm>
            <a:off x="8686800" y="1837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14"/>
          <p:cNvSpPr/>
          <p:nvPr/>
        </p:nvSpPr>
        <p:spPr>
          <a:xfrm>
            <a:off x="9335880" y="17373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D95"/>
                </a:solidFill>
                <a:effectLst/>
                <a:uFillTx/>
                <a:latin typeface="Cambria"/>
                <a:ea typeface="Cambria"/>
              </a:rPr>
              <a:t>Question Answering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5"/>
          <p:cNvSpPr/>
          <p:nvPr/>
        </p:nvSpPr>
        <p:spPr>
          <a:xfrm>
            <a:off x="8540640" y="2606040"/>
            <a:ext cx="3099600" cy="3428640"/>
          </a:xfrm>
          <a:prstGeom prst="roundRect">
            <a:avLst>
              <a:gd name="adj" fmla="val 2360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6"/>
          <p:cNvSpPr/>
          <p:nvPr/>
        </p:nvSpPr>
        <p:spPr>
          <a:xfrm>
            <a:off x="8723520" y="2788920"/>
            <a:ext cx="27338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"Based only on the context,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answer the question. If not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found, say 'Not found.'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Context: &lt;passage&gt;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7272A"/>
                </a:solidFill>
                <a:effectLst/>
                <a:uFillTx/>
                <a:latin typeface="Courier New"/>
                <a:ea typeface="Courier New"/>
              </a:rPr>
              <a:t>Question: &lt;question&gt;"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54864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TOPIC 3 · EXERCISE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548640" y="59436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7272A"/>
                </a:solidFill>
                <a:effectLst/>
                <a:uFillTx/>
                <a:latin typeface="Cambria"/>
                <a:ea typeface="Cambria"/>
              </a:rPr>
              <a:t>Comparing Outputs Using Different Prompts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5" name="Table 0"/>
          <p:cNvGraphicFramePr/>
          <p:nvPr/>
        </p:nvGraphicFramePr>
        <p:xfrm>
          <a:off x="548640" y="1417320"/>
          <a:ext cx="11063880" cy="41148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66160"/>
              </a:tblGrid>
              <a:tr h="68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Prompt Variant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Example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to Observe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4C1D95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Vague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"Tell me about this text."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Generic, unfocused output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Specific + constrained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"List 3 key facts, one sentence each."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Structured, easy to evaluate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Zero-shot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Direct question, no examples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 performance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Few-shot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Question + 2-3 examples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More consistent formatting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4C1D9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Role-based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"As an expert..."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72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More detailed, domain-appropriate tone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DEFA"/>
                      </a:solidFill>
                      <a:prstDash val="solid"/>
                    </a:lnL>
                    <a:lnR w="9360">
                      <a:solidFill>
                        <a:srgbClr val="E5DEFA"/>
                      </a:solidFill>
                      <a:prstDash val="solid"/>
                    </a:lnR>
                    <a:lnT w="9360">
                      <a:solidFill>
                        <a:srgbClr val="E5DEFA"/>
                      </a:solidFill>
                      <a:prstDash val="solid"/>
                    </a:lnT>
                    <a:lnB w="9360">
                      <a:solidFill>
                        <a:srgbClr val="E5DEF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6" name="Shape 2"/>
          <p:cNvSpPr/>
          <p:nvPr/>
        </p:nvSpPr>
        <p:spPr>
          <a:xfrm>
            <a:off x="548640" y="5715000"/>
            <a:ext cx="11063880" cy="86832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777240" y="571500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C1D95"/>
                </a:solidFill>
                <a:effectLst/>
                <a:uFillTx/>
                <a:latin typeface="Calibri"/>
                <a:ea typeface="Calibri"/>
              </a:rPr>
              <a:t>Exercise: </a:t>
            </a:r>
            <a:r>
              <a:rPr lang="en-US" sz="1200" b="0" u="none" strike="noStrike">
                <a:solidFill>
                  <a:srgbClr val="27272A"/>
                </a:solidFill>
                <a:effectLst/>
                <a:uFillTx/>
                <a:latin typeface="Calibri"/>
                <a:ea typeface="Calibri"/>
              </a:rPr>
              <a:t>Pick one task (e.g. sentiment classification). Run it through zero-shot, few-shot, and role-based prompts on the same input, and record outputs side-by-side.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11658600" y="6492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9692640" y="-1371600"/>
            <a:ext cx="4571640" cy="4571640"/>
          </a:xfrm>
          <a:prstGeom prst="ellipse">
            <a:avLst/>
          </a:prstGeom>
          <a:solidFill>
            <a:srgbClr val="7C3AED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822960" y="640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822960" y="100584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Key Takeaways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822960" y="2057400"/>
            <a:ext cx="5348880" cy="1691280"/>
          </a:xfrm>
          <a:prstGeom prst="roundRect">
            <a:avLst>
              <a:gd name="adj" fmla="val 5405"/>
            </a:avLst>
          </a:prstGeom>
          <a:solidFill>
            <a:srgbClr val="312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1097280" y="2331720"/>
            <a:ext cx="594000" cy="594000"/>
          </a:xfrm>
          <a:prstGeom prst="ellipse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0" descr="preencoded.png"/>
          <p:cNvPicPr/>
          <p:nvPr/>
        </p:nvPicPr>
        <p:blipFill>
          <a:blip r:embed="rId1"/>
          <a:stretch/>
        </p:blipFill>
        <p:spPr>
          <a:xfrm>
            <a:off x="1243440" y="247788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5"/>
          <p:cNvSpPr/>
          <p:nvPr/>
        </p:nvSpPr>
        <p:spPr>
          <a:xfrm>
            <a:off x="1874520" y="2258640"/>
            <a:ext cx="4068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GPT vs BERT vs T5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1874520" y="2679120"/>
            <a:ext cx="4068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Decoder = generate, Encoder = understand, Encoder-Decoder = flexible text-to-text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6537960" y="2057400"/>
            <a:ext cx="5348880" cy="1691280"/>
          </a:xfrm>
          <a:prstGeom prst="roundRect">
            <a:avLst>
              <a:gd name="adj" fmla="val 5405"/>
            </a:avLst>
          </a:prstGeom>
          <a:solidFill>
            <a:srgbClr val="312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8"/>
          <p:cNvSpPr/>
          <p:nvPr/>
        </p:nvSpPr>
        <p:spPr>
          <a:xfrm>
            <a:off x="6812280" y="2331720"/>
            <a:ext cx="594000" cy="594000"/>
          </a:xfrm>
          <a:prstGeom prst="ellipse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Image 1" descr="preencoded.png"/>
          <p:cNvPicPr/>
          <p:nvPr/>
        </p:nvPicPr>
        <p:blipFill>
          <a:blip r:embed="rId2"/>
          <a:stretch/>
        </p:blipFill>
        <p:spPr>
          <a:xfrm>
            <a:off x="6958440" y="247788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Text 9"/>
          <p:cNvSpPr/>
          <p:nvPr/>
        </p:nvSpPr>
        <p:spPr>
          <a:xfrm>
            <a:off x="7589520" y="2258640"/>
            <a:ext cx="4068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Tokenization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7589520" y="2679120"/>
            <a:ext cx="4068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Breaks text into subwords so models handle any word, even unseen ones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1"/>
          <p:cNvSpPr/>
          <p:nvPr/>
        </p:nvSpPr>
        <p:spPr>
          <a:xfrm>
            <a:off x="822960" y="4023360"/>
            <a:ext cx="5348880" cy="1691280"/>
          </a:xfrm>
          <a:prstGeom prst="roundRect">
            <a:avLst>
              <a:gd name="adj" fmla="val 5405"/>
            </a:avLst>
          </a:prstGeom>
          <a:solidFill>
            <a:srgbClr val="312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2"/>
          <p:cNvSpPr/>
          <p:nvPr/>
        </p:nvSpPr>
        <p:spPr>
          <a:xfrm>
            <a:off x="1097280" y="4297680"/>
            <a:ext cx="594000" cy="594000"/>
          </a:xfrm>
          <a:prstGeom prst="ellipse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2" descr="preencoded.png"/>
          <p:cNvPicPr/>
          <p:nvPr/>
        </p:nvPicPr>
        <p:blipFill>
          <a:blip r:embed="rId3"/>
          <a:stretch/>
        </p:blipFill>
        <p:spPr>
          <a:xfrm>
            <a:off x="1243440" y="44438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13"/>
          <p:cNvSpPr/>
          <p:nvPr/>
        </p:nvSpPr>
        <p:spPr>
          <a:xfrm>
            <a:off x="1874520" y="4224600"/>
            <a:ext cx="4068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Embeddings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4"/>
          <p:cNvSpPr/>
          <p:nvPr/>
        </p:nvSpPr>
        <p:spPr>
          <a:xfrm>
            <a:off x="1874520" y="4645080"/>
            <a:ext cx="4068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Turn tokens into meaning vectors; positional embeddings preserve word order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5"/>
          <p:cNvSpPr/>
          <p:nvPr/>
        </p:nvSpPr>
        <p:spPr>
          <a:xfrm>
            <a:off x="6537960" y="4023360"/>
            <a:ext cx="5348880" cy="1691280"/>
          </a:xfrm>
          <a:prstGeom prst="roundRect">
            <a:avLst>
              <a:gd name="adj" fmla="val 5405"/>
            </a:avLst>
          </a:prstGeom>
          <a:solidFill>
            <a:srgbClr val="312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6"/>
          <p:cNvSpPr/>
          <p:nvPr/>
        </p:nvSpPr>
        <p:spPr>
          <a:xfrm>
            <a:off x="6812280" y="4297680"/>
            <a:ext cx="594000" cy="594000"/>
          </a:xfrm>
          <a:prstGeom prst="ellipse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9" name="Image 3" descr="preencoded.png"/>
          <p:cNvPicPr/>
          <p:nvPr/>
        </p:nvPicPr>
        <p:blipFill>
          <a:blip r:embed="rId4"/>
          <a:stretch/>
        </p:blipFill>
        <p:spPr>
          <a:xfrm>
            <a:off x="6958440" y="44438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Text 17"/>
          <p:cNvSpPr/>
          <p:nvPr/>
        </p:nvSpPr>
        <p:spPr>
          <a:xfrm>
            <a:off x="7589520" y="4224600"/>
            <a:ext cx="4068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Prompt Engineering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8"/>
          <p:cNvSpPr/>
          <p:nvPr/>
        </p:nvSpPr>
        <p:spPr>
          <a:xfrm>
            <a:off x="7589520" y="4645080"/>
            <a:ext cx="4068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How you phrase a prompt — examples, role, constraints — shapes output quality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9"/>
          <p:cNvSpPr/>
          <p:nvPr/>
        </p:nvSpPr>
        <p:spPr>
          <a:xfrm>
            <a:off x="822960" y="62636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Thank you — Hassan | NCAI Generative AI Internship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2026-07-03T09:55:03Z</dcterms:created>
  <dc:creator>Hassan</dc:creator>
  <dc:description/>
  <dc:language>en-US</dc:language>
  <cp:lastModifiedBy/>
  <dcterms:modified xsi:type="dcterms:W3CDTF">2026-07-03T15:00:21Z</dcterms:modified>
  <cp:revision>2</cp:revision>
  <dc:subject>PptxGenJS Presentation</dc:subject>
  <dc:title>GenAI Internship - Day 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